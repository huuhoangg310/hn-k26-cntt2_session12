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B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7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417"/>
                </a:solidFill>
                <a:latin typeface="Aptos"/>
              </a:defRPr>
            </a:pPr>
            <a:r>
              <a:t>FASTMOVE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Nhận đơn đúng quy trình giúp shipper rời kho nhanh và chính xác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AF3FC"/>
                </a:solidFill>
                <a:latin typeface="Aptos"/>
              </a:defRPr>
            </a:pPr>
            <a:r>
              <a:t>CHECKLIST NHẬN ĐƠN • 4 BƯỚC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212080" cy="1325880"/>
          </a:xfrm>
          <a:prstGeom prst="roundRect">
            <a:avLst/>
          </a:prstGeom>
          <a:solidFill>
            <a:srgbClr val="1F4677"/>
          </a:solidFill>
          <a:ln>
            <a:solidFill>
              <a:srgbClr val="57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741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151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Quét mã vận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35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AF3FC"/>
                </a:solidFill>
                <a:latin typeface="Aptos"/>
              </a:defRPr>
            </a:pPr>
            <a:r>
              <a:t>Đối chiếu mã và số kiện.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212080" cy="1325880"/>
          </a:xfrm>
          <a:prstGeom prst="roundRect">
            <a:avLst/>
          </a:prstGeom>
          <a:solidFill>
            <a:srgbClr val="1F4677"/>
          </a:solidFill>
          <a:ln>
            <a:solidFill>
              <a:srgbClr val="57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741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151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Kiểm tra thông 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35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AF3FC"/>
                </a:solidFill>
                <a:latin typeface="Aptos"/>
              </a:defRPr>
            </a:pPr>
            <a:r>
              <a:t>Xác nhận địa chỉ, số điện thoại, ghi chú.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212080" cy="1325880"/>
          </a:xfrm>
          <a:prstGeom prst="roundRect">
            <a:avLst/>
          </a:prstGeom>
          <a:solidFill>
            <a:srgbClr val="1F4677"/>
          </a:solidFill>
          <a:ln>
            <a:solidFill>
              <a:srgbClr val="57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343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741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068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Kiểm tra kiện hàng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2744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AF3FC"/>
                </a:solidFill>
                <a:latin typeface="Aptos"/>
              </a:defRPr>
            </a:pPr>
            <a:r>
              <a:t>Báo ngay nếu hư hỏng hoặc sai thông tin.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20"/>
            <a:ext cx="5212080" cy="1325880"/>
          </a:xfrm>
          <a:prstGeom prst="roundRect">
            <a:avLst/>
          </a:prstGeom>
          <a:solidFill>
            <a:srgbClr val="1F4677"/>
          </a:solidFill>
          <a:ln>
            <a:solidFill>
              <a:srgbClr val="578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741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3068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Xác nhận bàn giao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72744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AF3FC"/>
                </a:solidFill>
                <a:latin typeface="Aptos"/>
              </a:defRPr>
            </a:pPr>
            <a:r>
              <a:t>Cập nhật trạng thái trên ứng dụng.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7417"/>
                </a:solidFill>
                <a:latin typeface="Aptos"/>
              </a:defRPr>
            </a:pPr>
            <a:r>
              <a:t>Nhanh • Tin cậy • Mọi lúc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7417"/>
                </a:solidFill>
                <a:latin typeface="Aptos"/>
              </a:defRPr>
            </a:pPr>
            <a:r>
              <a:t>FASTMOVE • BÁO CÁO VẬN HÀNH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53B70"/>
                </a:solidFill>
                <a:latin typeface="Aptos"/>
              </a:defRPr>
            </a:pPr>
            <a:r>
              <a:t>Tỷ lệ giao đúng hạn cần được ưu tiên cải thiện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167A8"/>
                </a:solidFill>
                <a:latin typeface="Aptos"/>
              </a:defRPr>
            </a:pPr>
            <a:r>
              <a:t>KPI MẪU (DỮ LIỆU MINH HỌA)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3B70"/>
                </a:solidFill>
                <a:latin typeface="Aptos"/>
              </a:defRPr>
            </a:pPr>
            <a:r>
              <a:t>Giao thành công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240280"/>
            <a:ext cx="5943600" cy="384048"/>
          </a:xfrm>
          <a:prstGeom prst="roundRect">
            <a:avLst/>
          </a:prstGeom>
          <a:solidFill>
            <a:srgbClr val="DA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240280"/>
            <a:ext cx="4457700" cy="384048"/>
          </a:xfrm>
          <a:prstGeom prst="roundRect">
            <a:avLst/>
          </a:prstGeom>
          <a:solidFill>
            <a:srgbClr val="21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2221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3B70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3B70"/>
                </a:solidFill>
                <a:latin typeface="Aptos"/>
              </a:defRPr>
            </a:pPr>
            <a:r>
              <a:t>Giao đúng hạn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200400"/>
            <a:ext cx="5943600" cy="384048"/>
          </a:xfrm>
          <a:prstGeom prst="roundRect">
            <a:avLst/>
          </a:prstGeom>
          <a:solidFill>
            <a:srgbClr val="DA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3200400"/>
            <a:ext cx="3447288" cy="384048"/>
          </a:xfrm>
          <a:prstGeom prst="roundRect">
            <a:avLst/>
          </a:prstGeom>
          <a:solidFill>
            <a:srgbClr val="FF7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31821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7417"/>
                </a:solidFill>
                <a:latin typeface="Aptos"/>
              </a:defRPr>
            </a:pPr>
            <a:r>
              <a:t>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3B70"/>
                </a:solidFill>
                <a:latin typeface="Aptos"/>
              </a:defRPr>
            </a:pPr>
            <a:r>
              <a:t>Hoàn / thất bại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4160520"/>
            <a:ext cx="5943600" cy="384048"/>
          </a:xfrm>
          <a:prstGeom prst="roundRect">
            <a:avLst/>
          </a:prstGeom>
          <a:solidFill>
            <a:srgbClr val="DAE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26080" y="4160520"/>
            <a:ext cx="1010412" cy="384048"/>
          </a:xfrm>
          <a:prstGeom prst="roundRect">
            <a:avLst/>
          </a:prstGeom>
          <a:solidFill>
            <a:srgbClr val="216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41422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3B70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53B70"/>
                </a:solidFill>
                <a:latin typeface="Aptos"/>
              </a:defRPr>
            </a:pPr>
            <a:r>
              <a:t>Ưu tiên: rà soát nguyên nhân giao trễ và tối ưu phân tuyến.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72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167A8"/>
                </a:solidFill>
                <a:latin typeface="Aptos"/>
              </a:defRPr>
            </a:pPr>
            <a:r>
              <a:t>Lưu ý: số liệu minh họa, thay bằng dữ liệu thực tế của FastMove.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