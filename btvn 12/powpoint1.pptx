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>
        <p:scale>
          <a:sx n="50" d="100"/>
          <a:sy n="50" d="100"/>
        </p:scale>
        <p:origin x="564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vi-V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Cơ</a:t>
            </a:r>
            <a:r>
              <a:rPr lang="en-US" baseline="0" dirty="0"/>
              <a:t> </a:t>
            </a:r>
            <a:r>
              <a:rPr lang="en-US" baseline="0" dirty="0" err="1"/>
              <a:t>Cấu</a:t>
            </a:r>
            <a:r>
              <a:rPr lang="en-US" baseline="0" dirty="0"/>
              <a:t> Chi </a:t>
            </a:r>
            <a:r>
              <a:rPr lang="en-US" baseline="0" dirty="0" err="1"/>
              <a:t>Phí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Trang_tính1!$B$1</c:f>
              <c:strCache>
                <c:ptCount val="1"/>
                <c:pt idx="0">
                  <c:v>Chuỗi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2FE-43F1-91ED-F938A4B8D327}"/>
              </c:ext>
            </c:extLst>
          </c:dPt>
          <c:dPt>
            <c:idx val="1"/>
            <c:bubble3D val="0"/>
            <c:explosion val="2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B2FE-43F1-91ED-F938A4B8D32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</c:dPt>
          <c:cat>
            <c:strRef>
              <c:f>Trang_tính1!$A$2:$A$5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Trang_tính1!$B$2:$B$5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FE-43F1-91ED-F938A4B8D327}"/>
            </c:ext>
          </c:extLst>
        </c:ser>
        <c:ser>
          <c:idx val="1"/>
          <c:order val="1"/>
          <c:tx>
            <c:strRef>
              <c:f>Trang_tính1!$C$1</c:f>
              <c:strCache>
                <c:ptCount val="1"/>
                <c:pt idx="0">
                  <c:v>Chuỗi 2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</c:dPt>
          <c:cat>
            <c:strRef>
              <c:f>Trang_tính1!$A$2:$A$5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Trang_tính1!$C$2:$C$5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FE-43F1-91ED-F938A4B8D327}"/>
            </c:ext>
          </c:extLst>
        </c:ser>
        <c:ser>
          <c:idx val="2"/>
          <c:order val="2"/>
          <c:tx>
            <c:strRef>
              <c:f>Trang_tính1!$D$1</c:f>
              <c:strCache>
                <c:ptCount val="1"/>
                <c:pt idx="0">
                  <c:v>Chuỗi 3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</c:dPt>
          <c:cat>
            <c:strRef>
              <c:f>Trang_tính1!$A$2:$A$5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Trang_tính1!$D$2:$D$5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2FE-43F1-91ED-F938A4B8D3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vi-V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Doanh</a:t>
            </a:r>
            <a:r>
              <a:rPr lang="en-US" baseline="0" dirty="0"/>
              <a:t> Thu Thuần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2739788385826769E-2"/>
          <c:y val="1.7121184970399547E-2"/>
          <c:w val="0.94583058562992128"/>
          <c:h val="0.7725726640887878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Trang_tính1!$B$1</c:f>
              <c:strCache>
                <c:ptCount val="1"/>
                <c:pt idx="0">
                  <c:v>Tháng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Trang_tính1!$A$2:$A$5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Trang_tính1!$B$2:$B$5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59-4E9A-8DCB-7B9D14F3C0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538935048"/>
        <c:axId val="538938920"/>
      </c:barChart>
      <c:catAx>
        <c:axId val="538935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8938920"/>
        <c:crosses val="autoZero"/>
        <c:auto val="1"/>
        <c:lblAlgn val="ctr"/>
        <c:lblOffset val="100"/>
        <c:noMultiLvlLbl val="0"/>
      </c:catAx>
      <c:valAx>
        <c:axId val="538938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8935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0.4232</cdr:x>
      <cdr:y>0.66237</cdr:y>
    </cdr:from>
    <cdr:to>
      <cdr:x>0.5</cdr:x>
      <cdr:y>0.75551</cdr:y>
    </cdr:to>
    <cdr:sp macro="" textlink="">
      <cdr:nvSpPr>
        <cdr:cNvPr id="2" name="Hộp Văn bản 1">
          <a:extLst xmlns:a="http://schemas.openxmlformats.org/drawingml/2006/main">
            <a:ext uri="{FF2B5EF4-FFF2-40B4-BE49-F238E27FC236}">
              <a16:creationId xmlns:a16="http://schemas.microsoft.com/office/drawing/2014/main" id="{E3FA3A77-131D-F36C-5F94-B923F2FEA406}"/>
            </a:ext>
          </a:extLst>
        </cdr:cNvPr>
        <cdr:cNvSpPr txBox="1"/>
      </cdr:nvSpPr>
      <cdr:spPr>
        <a:xfrm xmlns:a="http://schemas.openxmlformats.org/drawingml/2006/main">
          <a:off x="2495368" y="2005012"/>
          <a:ext cx="452846" cy="28194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100" kern="1200" dirty="0"/>
            <a:t>25%</a:t>
          </a:r>
        </a:p>
      </cdr:txBody>
    </cdr:sp>
  </cdr:relSizeAnchor>
  <cdr:relSizeAnchor xmlns:cdr="http://schemas.openxmlformats.org/drawingml/2006/chartDrawing">
    <cdr:from>
      <cdr:x>0.52723</cdr:x>
      <cdr:y>0.61202</cdr:y>
    </cdr:from>
    <cdr:to>
      <cdr:x>0.60542</cdr:x>
      <cdr:y>0.67696</cdr:y>
    </cdr:to>
    <cdr:sp macro="" textlink="">
      <cdr:nvSpPr>
        <cdr:cNvPr id="3" name="Hộp Văn bản 2">
          <a:extLst xmlns:a="http://schemas.openxmlformats.org/drawingml/2006/main">
            <a:ext uri="{FF2B5EF4-FFF2-40B4-BE49-F238E27FC236}">
              <a16:creationId xmlns:a16="http://schemas.microsoft.com/office/drawing/2014/main" id="{EE722EA6-9EA1-B26D-6B01-E9FCB0F5F6FB}"/>
            </a:ext>
          </a:extLst>
        </cdr:cNvPr>
        <cdr:cNvSpPr txBox="1"/>
      </cdr:nvSpPr>
      <cdr:spPr>
        <a:xfrm xmlns:a="http://schemas.openxmlformats.org/drawingml/2006/main">
          <a:off x="3108778" y="1852612"/>
          <a:ext cx="461010" cy="19656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100" kern="1200" dirty="0"/>
            <a:t>10%</a:t>
          </a: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A39DC5B-D95A-8EFA-3C2A-DB949E60E7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3080E840-BB92-B7D0-E5CE-4D7503ED4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CDA925CA-AF8C-FE06-EC25-EF54000CE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D8F7-160A-40BD-B6BB-ED6C523A153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4779145-C9AB-2AC6-0328-1CE45D87B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45DC2EC-F4F4-C4AD-5E58-CC5F657E9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58C1A-A5D5-4F70-94A5-29894F29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284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80923B2-7B06-AAFF-96EF-F4CAEE121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6113BB68-9CC2-2CAE-9AE9-454FCB0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0D340E8E-C63F-9A80-C970-C745651C1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D8F7-160A-40BD-B6BB-ED6C523A153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855B5602-FA9C-8EF0-1357-C84A31D84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BB23CDD1-D178-2E84-4758-9EFC9DF19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58C1A-A5D5-4F70-94A5-29894F29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811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8729615-655D-0EEB-9236-8697A7169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3BD80833-E56E-4706-926E-924510976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5E372AE0-3AA8-199E-5018-0CAE887BE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D8F7-160A-40BD-B6BB-ED6C523A153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5F8717C-66D5-0A1A-E317-3D96003BE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510859C5-1966-97E9-C4C0-143DDE19A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58C1A-A5D5-4F70-94A5-29894F29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36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2D6CFD6-9CC8-0D37-E426-C1EFD0ADB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143D583E-DE36-A152-6758-0E2CD5E1C5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C299D0D3-B78D-24FE-7759-4B9D3775B0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FD0507B5-5E03-D55E-15D5-71C578F0E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D8F7-160A-40BD-B6BB-ED6C523A153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98BDF6B5-0164-0DA6-A4FE-F2ED44E9A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6162EE3D-949D-5398-B7DE-B66B9564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58C1A-A5D5-4F70-94A5-29894F29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430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8619673-845D-48E4-AFA4-06DAAC66D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77995CB2-B90D-17F7-6BD3-4EC225CBB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96FC1714-AB78-5D7D-27B1-53B819FAB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6DC1C65B-7194-1F0E-3FCD-12CA04F82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F12E1517-11B3-A980-A2D9-BB2B473247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61C4B306-5CD3-5F93-3049-D4097096A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D8F7-160A-40BD-B6BB-ED6C523A153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48ACA50E-7524-0BBF-6BBB-ABE645845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52D5FE7D-3CFA-6B72-4B09-7858F41AB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58C1A-A5D5-4F70-94A5-29894F29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978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9F177AC-8597-919E-CD2D-09A1B3FFD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D8CAFB78-9A8F-3B7D-3DFA-B3E146421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D8F7-160A-40BD-B6BB-ED6C523A153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3D5CF86E-E63C-847F-868A-A002A0A95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6A29BAD3-A52E-6B2C-1436-283DB2904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58C1A-A5D5-4F70-94A5-29894F29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043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576C75E9-3769-59C9-4D19-7A0CBD7D3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D8F7-160A-40BD-B6BB-ED6C523A153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24BB6497-DA39-04E6-BCC3-C91480F63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B34EC22-A9FA-1350-7246-B5FAF91A6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58C1A-A5D5-4F70-94A5-29894F29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652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64DA247-B1E8-CAF3-179F-339187A3D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5C4075F-8040-41FC-0EB3-66B31152A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ABB85A1-FDC0-FCD4-62E1-2357EC49EE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635D6709-E48C-ABF4-B24A-CC40A1A68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D8F7-160A-40BD-B6BB-ED6C523A153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D4792AC0-0895-3FC2-87A4-6EC692453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55DD4D19-1548-1C50-F464-16DACC521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58C1A-A5D5-4F70-94A5-29894F29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057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A8F0680-9BED-8D19-68D8-B9810CD0C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E9466E86-749F-FB70-FC06-099FA8DA1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D76D47B-F137-0121-617E-B0DFF57A0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C8B8FDC4-598D-BE04-0FE1-DCADDB85D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D8F7-160A-40BD-B6BB-ED6C523A153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E5500221-B24A-4DD0-443F-F67220F0B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5928788F-A542-343E-3521-B1EEBE7F9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58C1A-A5D5-4F70-94A5-29894F29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803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0C5110F-56A7-8D47-8573-49DDA35F7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194A100E-B0C1-A3F3-E53A-80CAC9BA3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73279310-431B-9C61-B4A2-81D33CB21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D8F7-160A-40BD-B6BB-ED6C523A153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23D3A2D-BE87-1F7C-0F2E-D222255E4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E034F6C-14CF-4A57-65D0-F90B07A5E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58C1A-A5D5-4F70-94A5-29894F29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88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B43E6C7F-A82C-A4EB-D0BD-B9A8762B3D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3383DD99-7E78-0813-F720-88926D08B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E4DFCF41-3A06-5D9F-9FD2-9007314F1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D8F7-160A-40BD-B6BB-ED6C523A153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E62A2A7D-2B86-FFD0-AF56-3A9A8736A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0AB019C-2B53-0821-6B67-2D1B35270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58C1A-A5D5-4F70-94A5-29894F29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261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572D0056-77A3-D8F8-3185-6E7347E97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136C652C-AF86-4B58-81B7-08F05D5C0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A3AAF33-0712-9F13-B071-B3F15663ED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BD8F7-160A-40BD-B6BB-ED6C523A153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44A9B807-1FCA-3C6B-7CC0-F1B8F45C7F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E25C09B5-5B6D-3F9E-4848-B1E9C1E79D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158C1A-A5D5-4F70-94A5-29894F29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395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BE233C7-4A27-BAC8-48AD-2F3D51A440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1665" y="752738"/>
            <a:ext cx="9296400" cy="2387600"/>
          </a:xfrm>
        </p:spPr>
        <p:txBody>
          <a:bodyPr/>
          <a:lstStyle/>
          <a:p>
            <a:r>
              <a:rPr lang="en-US" b="1" dirty="0"/>
              <a:t>Báo </a:t>
            </a:r>
            <a:r>
              <a:rPr lang="en-US" b="1" dirty="0" err="1"/>
              <a:t>cáo</a:t>
            </a:r>
            <a:r>
              <a:rPr lang="en-US" b="1" dirty="0"/>
              <a:t> </a:t>
            </a:r>
            <a:r>
              <a:rPr lang="en-US" b="1" dirty="0" err="1"/>
              <a:t>lỗ</a:t>
            </a:r>
            <a:r>
              <a:rPr lang="en-US" b="1" dirty="0"/>
              <a:t> </a:t>
            </a:r>
            <a:r>
              <a:rPr lang="en-US" b="1" dirty="0" err="1"/>
              <a:t>lãi</a:t>
            </a:r>
            <a:br>
              <a:rPr lang="en-US" b="1" dirty="0"/>
            </a:br>
            <a:r>
              <a:rPr lang="en-US" b="1" dirty="0" err="1"/>
              <a:t>Tháng</a:t>
            </a:r>
            <a:r>
              <a:rPr lang="en-US" b="1" dirty="0"/>
              <a:t> 10/2026</a:t>
            </a:r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315230DD-AC94-FD0B-CB7D-EFB13A390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0120" y="1"/>
            <a:ext cx="3071880" cy="3274141"/>
          </a:xfrm>
          <a:prstGeom prst="rect">
            <a:avLst/>
          </a:prstGeom>
        </p:spPr>
      </p:pic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443A0DA9-5926-4B02-F39D-9C6DE6621194}"/>
              </a:ext>
            </a:extLst>
          </p:cNvPr>
          <p:cNvSpPr txBox="1"/>
          <p:nvPr/>
        </p:nvSpPr>
        <p:spPr>
          <a:xfrm>
            <a:off x="1268361" y="752738"/>
            <a:ext cx="3185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PayKX</a:t>
            </a:r>
            <a:endParaRPr lang="en-US" dirty="0"/>
          </a:p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endParaRPr lang="en-US" dirty="0"/>
          </a:p>
        </p:txBody>
      </p:sp>
      <p:sp>
        <p:nvSpPr>
          <p:cNvPr id="9" name="Hình chữ nhật: Góc Tròn 8">
            <a:extLst>
              <a:ext uri="{FF2B5EF4-FFF2-40B4-BE49-F238E27FC236}">
                <a16:creationId xmlns:a16="http://schemas.microsoft.com/office/drawing/2014/main" id="{490CF67B-D814-545C-9EF4-52177DA6144B}"/>
              </a:ext>
            </a:extLst>
          </p:cNvPr>
          <p:cNvSpPr/>
          <p:nvPr/>
        </p:nvSpPr>
        <p:spPr>
          <a:xfrm>
            <a:off x="1830643" y="3569110"/>
            <a:ext cx="1887794" cy="28906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Doang </a:t>
            </a:r>
            <a:r>
              <a:rPr lang="en-US" dirty="0" err="1"/>
              <a:t>thu</a:t>
            </a:r>
            <a:r>
              <a:rPr lang="en-US" dirty="0"/>
              <a:t> </a:t>
            </a:r>
          </a:p>
          <a:p>
            <a:pPr algn="ctr"/>
            <a:r>
              <a:rPr lang="en-US" dirty="0" err="1"/>
              <a:t>Thuân</a:t>
            </a:r>
            <a:endParaRPr lang="en-US" dirty="0"/>
          </a:p>
          <a:p>
            <a:pPr algn="ctr"/>
            <a:r>
              <a:rPr lang="en-US" sz="3200" dirty="0">
                <a:solidFill>
                  <a:srgbClr val="FF0000"/>
                </a:solidFill>
              </a:rPr>
              <a:t>12,45 </a:t>
            </a:r>
          </a:p>
          <a:p>
            <a:pPr algn="ctr"/>
            <a:r>
              <a:rPr lang="en-US" dirty="0" err="1">
                <a:solidFill>
                  <a:srgbClr val="FF0000"/>
                </a:solidFill>
              </a:rPr>
              <a:t>Tỷ</a:t>
            </a:r>
            <a:r>
              <a:rPr lang="en-US" dirty="0">
                <a:solidFill>
                  <a:srgbClr val="FF0000"/>
                </a:solidFill>
              </a:rPr>
              <a:t> VND</a:t>
            </a:r>
          </a:p>
          <a:p>
            <a:pPr algn="ctr"/>
            <a:r>
              <a:rPr lang="en-US" dirty="0"/>
              <a:t>+18,6%</a:t>
            </a:r>
          </a:p>
          <a:p>
            <a:pPr algn="ctr"/>
            <a:r>
              <a:rPr lang="en-US" dirty="0"/>
              <a:t>So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tháng</a:t>
            </a:r>
            <a:r>
              <a:rPr lang="en-US" dirty="0"/>
              <a:t> 9/2026</a:t>
            </a:r>
          </a:p>
        </p:txBody>
      </p:sp>
      <p:sp>
        <p:nvSpPr>
          <p:cNvPr id="10" name="Hình chữ nhật: Góc Tròn 9">
            <a:extLst>
              <a:ext uri="{FF2B5EF4-FFF2-40B4-BE49-F238E27FC236}">
                <a16:creationId xmlns:a16="http://schemas.microsoft.com/office/drawing/2014/main" id="{4BDF2E65-2AE6-BD35-9873-FDFDDA74307A}"/>
              </a:ext>
            </a:extLst>
          </p:cNvPr>
          <p:cNvSpPr/>
          <p:nvPr/>
        </p:nvSpPr>
        <p:spPr>
          <a:xfrm>
            <a:off x="4070555" y="3569110"/>
            <a:ext cx="1769806" cy="28906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Tổng</a:t>
            </a:r>
            <a:r>
              <a:rPr lang="en-US" dirty="0"/>
              <a:t> Chi </a:t>
            </a:r>
            <a:r>
              <a:rPr lang="en-US" dirty="0" err="1"/>
              <a:t>Phí</a:t>
            </a:r>
            <a:endParaRPr lang="en-US" dirty="0"/>
          </a:p>
          <a:p>
            <a:pPr algn="ctr"/>
            <a:r>
              <a:rPr lang="en-US" sz="3200" dirty="0">
                <a:solidFill>
                  <a:srgbClr val="FFC000"/>
                </a:solidFill>
              </a:rPr>
              <a:t>7,28 </a:t>
            </a:r>
          </a:p>
          <a:p>
            <a:pPr algn="ctr"/>
            <a:r>
              <a:rPr lang="en-US" dirty="0" err="1">
                <a:solidFill>
                  <a:srgbClr val="FFC000"/>
                </a:solidFill>
              </a:rPr>
              <a:t>Tỷ</a:t>
            </a:r>
            <a:r>
              <a:rPr lang="en-US" dirty="0">
                <a:solidFill>
                  <a:srgbClr val="FFC000"/>
                </a:solidFill>
              </a:rPr>
              <a:t> VND</a:t>
            </a:r>
          </a:p>
          <a:p>
            <a:pPr algn="ctr"/>
            <a:r>
              <a:rPr lang="en-US" dirty="0"/>
              <a:t>+12,1% so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tháng</a:t>
            </a:r>
            <a:r>
              <a:rPr lang="en-US" dirty="0"/>
              <a:t> 9/2026</a:t>
            </a:r>
          </a:p>
        </p:txBody>
      </p:sp>
      <p:sp>
        <p:nvSpPr>
          <p:cNvPr id="12" name="Hình chữ nhật: Góc Tròn 11">
            <a:extLst>
              <a:ext uri="{FF2B5EF4-FFF2-40B4-BE49-F238E27FC236}">
                <a16:creationId xmlns:a16="http://schemas.microsoft.com/office/drawing/2014/main" id="{6C5C0CDF-CD0F-3826-525D-B82839D19D4A}"/>
              </a:ext>
            </a:extLst>
          </p:cNvPr>
          <p:cNvSpPr/>
          <p:nvPr/>
        </p:nvSpPr>
        <p:spPr>
          <a:xfrm>
            <a:off x="9370142" y="3569110"/>
            <a:ext cx="1769806" cy="28906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Lợi </a:t>
            </a:r>
            <a:r>
              <a:rPr lang="en-US" dirty="0" err="1"/>
              <a:t>nhuận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thuế</a:t>
            </a:r>
            <a:endParaRPr lang="en-US" dirty="0"/>
          </a:p>
          <a:p>
            <a:pPr algn="ctr"/>
            <a:r>
              <a:rPr lang="en-US" sz="3200" dirty="0">
                <a:solidFill>
                  <a:srgbClr val="002060"/>
                </a:solidFill>
              </a:rPr>
              <a:t>31,2</a:t>
            </a:r>
          </a:p>
          <a:p>
            <a:pPr algn="ctr"/>
            <a:r>
              <a:rPr lang="en-US" dirty="0" err="1">
                <a:solidFill>
                  <a:srgbClr val="002060"/>
                </a:solidFill>
              </a:rPr>
              <a:t>Tỷ</a:t>
            </a:r>
            <a:r>
              <a:rPr lang="en-US" dirty="0">
                <a:solidFill>
                  <a:srgbClr val="002060"/>
                </a:solidFill>
              </a:rPr>
              <a:t> VND</a:t>
            </a:r>
          </a:p>
          <a:p>
            <a:pPr algn="ctr"/>
            <a:r>
              <a:rPr lang="en-US" dirty="0"/>
              <a:t>+31,2% so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tháng</a:t>
            </a:r>
            <a:r>
              <a:rPr lang="en-US" dirty="0"/>
              <a:t> 9/2026</a:t>
            </a:r>
          </a:p>
        </p:txBody>
      </p:sp>
      <p:sp>
        <p:nvSpPr>
          <p:cNvPr id="14" name="Hình chữ nhật: Góc Tròn 13">
            <a:extLst>
              <a:ext uri="{FF2B5EF4-FFF2-40B4-BE49-F238E27FC236}">
                <a16:creationId xmlns:a16="http://schemas.microsoft.com/office/drawing/2014/main" id="{A8C2C951-AAC0-C09C-318B-00F422A35AFF}"/>
              </a:ext>
            </a:extLst>
          </p:cNvPr>
          <p:cNvSpPr/>
          <p:nvPr/>
        </p:nvSpPr>
        <p:spPr>
          <a:xfrm>
            <a:off x="6720348" y="3569110"/>
            <a:ext cx="1769806" cy="28906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Lợi </a:t>
            </a:r>
            <a:r>
              <a:rPr lang="en-US" dirty="0" err="1"/>
              <a:t>Nhuận</a:t>
            </a:r>
            <a:r>
              <a:rPr lang="en-US" dirty="0"/>
              <a:t> </a:t>
            </a:r>
            <a:r>
              <a:rPr lang="en-US" dirty="0" err="1"/>
              <a:t>Gộp</a:t>
            </a:r>
            <a:endParaRPr lang="en-US" dirty="0"/>
          </a:p>
          <a:p>
            <a:pPr algn="ctr"/>
            <a:r>
              <a:rPr lang="en-US" sz="3200" dirty="0">
                <a:solidFill>
                  <a:srgbClr val="92D050"/>
                </a:solidFill>
              </a:rPr>
              <a:t>5,17</a:t>
            </a:r>
            <a:r>
              <a:rPr lang="en-US" dirty="0">
                <a:solidFill>
                  <a:srgbClr val="92D050"/>
                </a:solidFill>
              </a:rPr>
              <a:t> </a:t>
            </a:r>
          </a:p>
          <a:p>
            <a:pPr algn="ctr"/>
            <a:r>
              <a:rPr lang="en-US" dirty="0" err="1">
                <a:solidFill>
                  <a:srgbClr val="92D050"/>
                </a:solidFill>
              </a:rPr>
              <a:t>Tỷ</a:t>
            </a:r>
            <a:r>
              <a:rPr lang="en-US" dirty="0">
                <a:solidFill>
                  <a:srgbClr val="92D050"/>
                </a:solidFill>
              </a:rPr>
              <a:t> VND</a:t>
            </a:r>
          </a:p>
          <a:p>
            <a:pPr algn="ctr"/>
            <a:r>
              <a:rPr lang="en-US" dirty="0"/>
              <a:t>+27,4% so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tháng</a:t>
            </a:r>
            <a:r>
              <a:rPr lang="en-US" dirty="0"/>
              <a:t> 9/2026</a:t>
            </a:r>
          </a:p>
        </p:txBody>
      </p:sp>
    </p:spTree>
    <p:extLst>
      <p:ext uri="{BB962C8B-B14F-4D97-AF65-F5344CB8AC3E}">
        <p14:creationId xmlns:p14="http://schemas.microsoft.com/office/powerpoint/2010/main" val="1987970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32BFE46-22A2-0593-CCB8-2D6D5EC0B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8801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graphicFrame>
        <p:nvGraphicFramePr>
          <p:cNvPr id="6" name="Chỗ dành sẵn cho Nội dung 5">
            <a:extLst>
              <a:ext uri="{FF2B5EF4-FFF2-40B4-BE49-F238E27FC236}">
                <a16:creationId xmlns:a16="http://schemas.microsoft.com/office/drawing/2014/main" id="{BCEFAEE3-FFC4-7B5C-8278-71FE4570CB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8347020"/>
              </p:ext>
            </p:extLst>
          </p:nvPr>
        </p:nvGraphicFramePr>
        <p:xfrm>
          <a:off x="7311572" y="1690688"/>
          <a:ext cx="5896428" cy="30270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Biểu đồ 8">
            <a:extLst>
              <a:ext uri="{FF2B5EF4-FFF2-40B4-BE49-F238E27FC236}">
                <a16:creationId xmlns:a16="http://schemas.microsoft.com/office/drawing/2014/main" id="{D043FEF6-F995-79F7-3B9E-3DBEAEEDA5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8715784"/>
              </p:ext>
            </p:extLst>
          </p:nvPr>
        </p:nvGraphicFramePr>
        <p:xfrm>
          <a:off x="406400" y="1690688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F28F8F93-414B-05F0-249B-7B720C3844C2}"/>
              </a:ext>
            </a:extLst>
          </p:cNvPr>
          <p:cNvSpPr txBox="1"/>
          <p:nvPr/>
        </p:nvSpPr>
        <p:spPr>
          <a:xfrm>
            <a:off x="9593037" y="2825749"/>
            <a:ext cx="666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40%</a:t>
            </a: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5E9E4689-6026-6B97-541F-17B5BA7859DA}"/>
              </a:ext>
            </a:extLst>
          </p:cNvPr>
          <p:cNvSpPr txBox="1"/>
          <p:nvPr/>
        </p:nvSpPr>
        <p:spPr>
          <a:xfrm>
            <a:off x="10420350" y="2779583"/>
            <a:ext cx="55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35%</a:t>
            </a:r>
          </a:p>
        </p:txBody>
      </p:sp>
    </p:spTree>
    <p:extLst>
      <p:ext uri="{BB962C8B-B14F-4D97-AF65-F5344CB8AC3E}">
        <p14:creationId xmlns:p14="http://schemas.microsoft.com/office/powerpoint/2010/main" val="596738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4E93522-914F-0309-782F-D404BC6DE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1CDAAB77-58A8-7729-D9B7-374CD524C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098761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82</Words>
  <Application>Microsoft Office PowerPoint</Application>
  <PresentationFormat>Màn hình rộng</PresentationFormat>
  <Paragraphs>27</Paragraphs>
  <Slides>3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4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Chủ đề Office</vt:lpstr>
      <vt:lpstr>Báo cáo lỗ lãi Tháng 10/2026</vt:lpstr>
      <vt:lpstr>Bản trình bày PowerPoint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</cp:revision>
  <dcterms:created xsi:type="dcterms:W3CDTF">2026-10-26T04:05:28Z</dcterms:created>
  <dcterms:modified xsi:type="dcterms:W3CDTF">2026-10-26T04:25:32Z</dcterms:modified>
</cp:coreProperties>
</file>